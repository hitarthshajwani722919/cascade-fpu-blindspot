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5"/>
    <p:sldId id="277" r:id="rId6"/>
    <p:sldId id="261" r:id="rId7"/>
    <p:sldId id="278" r:id="rId8"/>
    <p:sldId id="262" r:id="rId9"/>
    <p:sldId id="289" r:id="rId10"/>
    <p:sldId id="264" r:id="rId11"/>
    <p:sldId id="258" r:id="rId12"/>
    <p:sldId id="266" r:id="rId13"/>
    <p:sldId id="294" r:id="rId14"/>
    <p:sldId id="268" r:id="rId15"/>
    <p:sldId id="295" r:id="rId16"/>
    <p:sldId id="270" r:id="rId17"/>
    <p:sldId id="293" r:id="rId18"/>
    <p:sldId id="260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21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701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729316"/>
            <a:ext cx="5903779" cy="827726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en-US" b="1" dirty="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Structural Gaps </a:t>
            </a:r>
            <a:br>
              <a:rPr lang="en-US" b="1" dirty="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in Cascade Framework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1108878"/>
          </a:xfrm>
        </p:spPr>
        <p:txBody>
          <a:bodyPr>
            <a:normAutofit/>
          </a:bodyPr>
          <a:lstStyle/>
          <a:p>
            <a:r>
              <a:rPr lang="en-US" dirty="0"/>
              <a:t>Hitarth Girishkumar Shajwani</a:t>
            </a:r>
          </a:p>
          <a:p>
            <a:r>
              <a:rPr lang="en-US" dirty="0"/>
              <a:t>Prakruthi Girish</a:t>
            </a:r>
          </a:p>
          <a:p>
            <a:r>
              <a:rPr lang="en-US" dirty="0"/>
              <a:t>Likith Purushotham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1096297"/>
            <a:ext cx="3974382" cy="1325563"/>
          </a:xfrm>
        </p:spPr>
        <p:txBody>
          <a:bodyPr/>
          <a:lstStyle/>
          <a:p>
            <a:r>
              <a:rPr lang="en-US" dirty="0"/>
              <a:t>What is cascade?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2924175"/>
            <a:ext cx="5525729" cy="28375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RISC-V CPU Fuzzer that generates complex, valid  programs to discover hardware bugs.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Found 37 new bugs (29 new CVEs) in 5 RISC-V CPUs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Entangles data and control flow; detects bugs by non-termination avoiding expensive instruction-by-instruction comparison.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5002"/>
            <a:ext cx="4082142" cy="585788"/>
          </a:xfrm>
        </p:spPr>
        <p:txBody>
          <a:bodyPr/>
          <a:lstStyle/>
          <a:p>
            <a:r>
              <a:rPr lang="en-US" dirty="0"/>
              <a:t>CASCADE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7"/>
            <a:ext cx="2141764" cy="7913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Intermediate program construction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7507" y="2605320"/>
            <a:ext cx="2141764" cy="514350"/>
          </a:xfrm>
        </p:spPr>
        <p:txBody>
          <a:bodyPr/>
          <a:lstStyle/>
          <a:p>
            <a:r>
              <a:rPr lang="en-US" dirty="0"/>
              <a:t>Ultimate program construction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85788"/>
          </a:xfrm>
        </p:spPr>
        <p:txBody>
          <a:bodyPr/>
          <a:lstStyle/>
          <a:p>
            <a:r>
              <a:rPr lang="en-US" dirty="0"/>
              <a:t>Ultimate program execution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/>
          <a:lstStyle/>
          <a:p>
            <a:r>
              <a:rPr lang="en-US" dirty="0"/>
              <a:t>PROGRAM REDUCTION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6512271" cy="1010842"/>
          </a:xfrm>
        </p:spPr>
        <p:txBody>
          <a:bodyPr/>
          <a:lstStyle/>
          <a:p>
            <a:r>
              <a:rPr lang="en-US" dirty="0"/>
              <a:t>Generates sequence of basic blocks with independent data and control flow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6130004" cy="1010842"/>
          </a:xfrm>
        </p:spPr>
        <p:txBody>
          <a:bodyPr/>
          <a:lstStyle/>
          <a:p>
            <a:r>
              <a:rPr lang="en-US" dirty="0"/>
              <a:t>Runs intermediate program on ISS simulator to integrate data flow feedback to control flow 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907140" cy="1010842"/>
          </a:xfrm>
        </p:spPr>
        <p:txBody>
          <a:bodyPr/>
          <a:lstStyle/>
          <a:p>
            <a:r>
              <a:rPr lang="en-US" dirty="0"/>
              <a:t>Executes the program on the CPU under test. Non-terminations indicate bug discovery.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/>
          <a:lstStyle/>
          <a:p>
            <a:r>
              <a:rPr lang="en-US" dirty="0"/>
              <a:t>Optimizes bug-triggering program until only the minimal reproducer remains.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828" y="-27749"/>
            <a:ext cx="5431971" cy="846301"/>
          </a:xfrm>
        </p:spPr>
        <p:txBody>
          <a:bodyPr>
            <a:normAutofit/>
          </a:bodyPr>
          <a:lstStyle/>
          <a:p>
            <a:r>
              <a:rPr lang="en-US" sz="3200" dirty="0"/>
              <a:t>RUNNING CASCADE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5C5A2D-6B40-5B1A-919A-BC0746766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35" y="488140"/>
            <a:ext cx="11830665" cy="17326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481A65-CA2E-22D5-1679-5A16030F5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34" y="2621856"/>
            <a:ext cx="11830665" cy="1625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768775B-1D92-0B22-E8D9-B8F7F3357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33" y="4691612"/>
            <a:ext cx="11830665" cy="179705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30B2250-3A6D-2F3A-1C7C-5DBCC0BC91EA}"/>
              </a:ext>
            </a:extLst>
          </p:cNvPr>
          <p:cNvSpPr txBox="1"/>
          <p:nvPr/>
        </p:nvSpPr>
        <p:spPr>
          <a:xfrm>
            <a:off x="383455" y="2213386"/>
            <a:ext cx="941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 : Rediscovering paper bugs (Running the Fuzzer on CVA-6)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FB6A8-499B-2F01-183D-52CAB3A178A4}"/>
              </a:ext>
            </a:extLst>
          </p:cNvPr>
          <p:cNvSpPr txBox="1"/>
          <p:nvPr/>
        </p:nvSpPr>
        <p:spPr>
          <a:xfrm>
            <a:off x="383452" y="4237544"/>
            <a:ext cx="941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2: Reproducing bug detection timings for CVA6 and Boom CPUs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9C1BC2-4330-718F-E666-34A27E834EC3}"/>
              </a:ext>
            </a:extLst>
          </p:cNvPr>
          <p:cNvSpPr txBox="1"/>
          <p:nvPr/>
        </p:nvSpPr>
        <p:spPr>
          <a:xfrm>
            <a:off x="383453" y="6488668"/>
            <a:ext cx="941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3: Register Coverage Comparison between Cascade and </a:t>
            </a:r>
            <a:r>
              <a:rPr lang="en-US" dirty="0" err="1"/>
              <a:t>DifuzzRTL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GAP - 1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30709" y="3342699"/>
            <a:ext cx="4881716" cy="1569913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sz="1800" dirty="0"/>
              <a:t>Lower weight of FPU instruction class and edge-case triggering FPU instructions</a:t>
            </a:r>
          </a:p>
          <a:p>
            <a:r>
              <a:rPr lang="en-US" sz="1800" dirty="0"/>
              <a:t>- Injection of IEEE 754 special values missing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GAP-2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83357" y="3342699"/>
            <a:ext cx="3821592" cy="1057308"/>
          </a:xfrm>
        </p:spPr>
        <p:txBody>
          <a:bodyPr/>
          <a:lstStyle/>
          <a:p>
            <a:r>
              <a:rPr lang="en-US" sz="1900" dirty="0"/>
              <a:t>- No comparison of </a:t>
            </a:r>
            <a:r>
              <a:rPr lang="fr-FR" sz="1900" dirty="0"/>
              <a:t>fflags CSR (5 IEEE 754 exception flags) </a:t>
            </a:r>
            <a:endParaRPr lang="en-US" sz="1900" dirty="0"/>
          </a:p>
          <a:p>
            <a:endParaRPr lang="en-US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088047"/>
            <a:ext cx="3809999" cy="1325563"/>
          </a:xfrm>
        </p:spPr>
        <p:txBody>
          <a:bodyPr/>
          <a:lstStyle/>
          <a:p>
            <a:r>
              <a:rPr lang="en-US" dirty="0"/>
              <a:t>ENHANCEMENT -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0595" y="2513861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WEIGHT BOOSTING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0169" y="2843286"/>
            <a:ext cx="5431971" cy="557950"/>
          </a:xfrm>
        </p:spPr>
        <p:txBody>
          <a:bodyPr>
            <a:noAutofit/>
          </a:bodyPr>
          <a:lstStyle/>
          <a:p>
            <a:r>
              <a:rPr lang="en-US" sz="1500" dirty="0"/>
              <a:t>Increased FPU instruction class weights and edge-case-triggering instructions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18021" y="3722922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INSTRUCTION TELEMETRY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18021" y="4041241"/>
            <a:ext cx="5431971" cy="557950"/>
          </a:xfrm>
        </p:spPr>
        <p:txBody>
          <a:bodyPr>
            <a:normAutofit/>
          </a:bodyPr>
          <a:lstStyle/>
          <a:p>
            <a:r>
              <a:rPr lang="en-US" sz="1500" dirty="0"/>
              <a:t>Addition of a global counter to track every instruction picked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0595" y="4713453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EDGE CASE VALUE INJECTOR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0169" y="5042878"/>
            <a:ext cx="5431971" cy="557950"/>
          </a:xfrm>
        </p:spPr>
        <p:txBody>
          <a:bodyPr>
            <a:normAutofit/>
          </a:bodyPr>
          <a:lstStyle/>
          <a:p>
            <a:r>
              <a:rPr lang="en-US" sz="1500" dirty="0"/>
              <a:t>Injects IEEE 754 special bit patterns directly into FP registers 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0"/>
            <a:ext cx="5111750" cy="1204912"/>
          </a:xfrm>
        </p:spPr>
        <p:txBody>
          <a:bodyPr/>
          <a:lstStyle/>
          <a:p>
            <a:r>
              <a:rPr lang="en-US" dirty="0"/>
              <a:t>ENHANCEMENT-1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noProof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1ACE4F-122C-FD94-43EE-8440B473A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" y="1671638"/>
            <a:ext cx="11332782" cy="412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/>
          <a:lstStyle/>
          <a:p>
            <a:r>
              <a:rPr lang="en-US" dirty="0"/>
              <a:t>KEY FINDING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GAP-II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814" y="55614"/>
            <a:ext cx="8421688" cy="1325563"/>
          </a:xfrm>
        </p:spPr>
        <p:txBody>
          <a:bodyPr/>
          <a:lstStyle/>
          <a:p>
            <a:r>
              <a:rPr lang="en-US" dirty="0"/>
              <a:t>STRUCTURAL GAP IN CASCADE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2729" y="1465402"/>
            <a:ext cx="5404174" cy="823912"/>
          </a:xfrm>
        </p:spPr>
        <p:txBody>
          <a:bodyPr/>
          <a:lstStyle/>
          <a:p>
            <a:r>
              <a:rPr lang="en-US" dirty="0"/>
              <a:t>Analysis of source code reveals: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B6605D4-2B3F-C9AB-F88E-20280A8FCFC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94967" y="2605088"/>
            <a:ext cx="5404174" cy="823912"/>
          </a:xfrm>
        </p:spPr>
        <p:txBody>
          <a:bodyPr/>
          <a:lstStyle/>
          <a:p>
            <a:r>
              <a:rPr lang="en-US" dirty="0"/>
              <a:t>Comparison never checks fflags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EEB7DA-9A3E-890A-A934-0C62F7A9C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6" y="3197452"/>
            <a:ext cx="11599703" cy="1325563"/>
          </a:xfrm>
          <a:prstGeom prst="rect">
            <a:avLst/>
          </a:prstGeom>
        </p:spPr>
      </p:pic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F461A81-4014-B914-CEDF-11B83EA82CFC}"/>
              </a:ext>
            </a:extLst>
          </p:cNvPr>
          <p:cNvSpPr txBox="1">
            <a:spLocks/>
          </p:cNvSpPr>
          <p:nvPr/>
        </p:nvSpPr>
        <p:spPr>
          <a:xfrm>
            <a:off x="247780" y="4530102"/>
            <a:ext cx="5792962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Spike reads fcsr but throws it away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3261C65-71AD-7C17-C240-E33B595EA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87" y="5476927"/>
            <a:ext cx="11707859" cy="97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ARE FFLAGS?</a:t>
            </a:r>
          </a:p>
        </p:txBody>
      </p:sp>
      <p:sp>
        <p:nvSpPr>
          <p:cNvPr id="110" name="Text Placeholder 31">
            <a:extLst>
              <a:ext uri="{FF2B5EF4-FFF2-40B4-BE49-F238E27FC236}">
                <a16:creationId xmlns:a16="http://schemas.microsoft.com/office/drawing/2014/main" id="{2FF506C9-7C92-4B9C-A356-9B519D03C78D}"/>
              </a:ext>
            </a:extLst>
          </p:cNvPr>
          <p:cNvSpPr txBox="1">
            <a:spLocks/>
          </p:cNvSpPr>
          <p:nvPr/>
        </p:nvSpPr>
        <p:spPr>
          <a:xfrm>
            <a:off x="3071458" y="2316276"/>
            <a:ext cx="2057400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600" spc="150" dirty="0">
                <a:latin typeface="+mj-lt"/>
                <a:ea typeface="+mj-ea"/>
                <a:cs typeface="+mj-cs"/>
              </a:rPr>
              <a:t>DIVIDE BY ZERO</a:t>
            </a:r>
            <a:endParaRPr lang="en-US" sz="1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861FF3-B902-4DEC-B46D-0F2E499C51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50699" y="3390755"/>
            <a:ext cx="731520" cy="457200"/>
          </a:xfrm>
        </p:spPr>
        <p:txBody>
          <a:bodyPr>
            <a:normAutofit/>
          </a:bodyPr>
          <a:lstStyle/>
          <a:p>
            <a:r>
              <a:rPr lang="en-US" sz="2000" dirty="0"/>
              <a:t>CSR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941AA2-C85B-41A7-9264-A0C66F3293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878406" y="3502152"/>
            <a:ext cx="640080" cy="201776"/>
          </a:xfrm>
        </p:spPr>
        <p:txBody>
          <a:bodyPr>
            <a:noAutofit/>
          </a:bodyPr>
          <a:lstStyle/>
          <a:p>
            <a:r>
              <a:rPr lang="en-US" sz="1100" dirty="0"/>
              <a:t>BIT 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4BD3D3-C7A9-46F1-8ED8-AB8D1BB8926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669306" y="3509151"/>
            <a:ext cx="640080" cy="201776"/>
          </a:xfrm>
        </p:spPr>
        <p:txBody>
          <a:bodyPr>
            <a:noAutofit/>
          </a:bodyPr>
          <a:lstStyle/>
          <a:p>
            <a:r>
              <a:rPr lang="en-US" sz="1100" dirty="0"/>
              <a:t>BIT 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73EDDDB-6509-4407-BA35-232AAF9F198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795992" y="3518467"/>
            <a:ext cx="640080" cy="201776"/>
          </a:xfrm>
        </p:spPr>
        <p:txBody>
          <a:bodyPr>
            <a:noAutofit/>
          </a:bodyPr>
          <a:lstStyle/>
          <a:p>
            <a:r>
              <a:rPr lang="en-US" sz="1100" dirty="0"/>
              <a:t>BIT 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3A061F-AC2A-4E3F-B448-DC6FEC307A5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44574" y="3502152"/>
            <a:ext cx="640080" cy="201776"/>
          </a:xfrm>
        </p:spPr>
        <p:txBody>
          <a:bodyPr>
            <a:noAutofit/>
          </a:bodyPr>
          <a:lstStyle/>
          <a:p>
            <a:r>
              <a:rPr lang="en-US" sz="1100" dirty="0"/>
              <a:t>BIT 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C81818-8260-4E49-9FCC-569FDE30B0B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662160" y="3509151"/>
            <a:ext cx="640080" cy="201776"/>
          </a:xfrm>
        </p:spPr>
        <p:txBody>
          <a:bodyPr>
            <a:noAutofit/>
          </a:bodyPr>
          <a:lstStyle/>
          <a:p>
            <a:r>
              <a:rPr lang="en-US" sz="1100" dirty="0"/>
              <a:t>BIT 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AAE5EC1-092E-4A01-B866-C63F654AC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4104188" y="2932176"/>
            <a:ext cx="3722" cy="5334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FBB4508-2CA6-4A49-9EAD-91DB1B205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4447" y="3465576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9ECD5-0EAD-48D0-B30B-16305BC1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15A55E3-94A2-6616-8EE5-E4246C019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90" idx="0"/>
          </p:cNvCxnSpPr>
          <p:nvPr/>
        </p:nvCxnSpPr>
        <p:spPr>
          <a:xfrm>
            <a:off x="5989346" y="2948491"/>
            <a:ext cx="3722" cy="5334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BA51017E-BE91-B00A-6BD6-E3CEA01DB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9605" y="3481891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645ACC5-3B56-33DC-ABA4-2E34A68FF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92" idx="0"/>
          </p:cNvCxnSpPr>
          <p:nvPr/>
        </p:nvCxnSpPr>
        <p:spPr>
          <a:xfrm>
            <a:off x="8040277" y="2948491"/>
            <a:ext cx="3722" cy="5334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69E39AFE-9DD0-E47D-D0E3-B7F0C94C2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80536" y="3481891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AEA0097-C9A4-EB71-BE44-0A202163C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9967459" y="2948491"/>
            <a:ext cx="3722" cy="5334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02BC16C3-9912-9489-6DA5-4FF57C77A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07718" y="3481891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97" name="Text Placeholder 31">
            <a:extLst>
              <a:ext uri="{FF2B5EF4-FFF2-40B4-BE49-F238E27FC236}">
                <a16:creationId xmlns:a16="http://schemas.microsoft.com/office/drawing/2014/main" id="{ECAF2371-2923-DED3-32AD-C511449B052A}"/>
              </a:ext>
            </a:extLst>
          </p:cNvPr>
          <p:cNvSpPr txBox="1">
            <a:spLocks/>
          </p:cNvSpPr>
          <p:nvPr/>
        </p:nvSpPr>
        <p:spPr>
          <a:xfrm>
            <a:off x="4954177" y="2322314"/>
            <a:ext cx="2057400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600" spc="150" dirty="0">
                <a:latin typeface="+mj-lt"/>
                <a:ea typeface="+mj-ea"/>
                <a:cs typeface="+mj-cs"/>
              </a:rPr>
              <a:t>OVERFLOW</a:t>
            </a:r>
            <a:endParaRPr lang="en-US" sz="1000" dirty="0"/>
          </a:p>
        </p:txBody>
      </p:sp>
      <p:sp>
        <p:nvSpPr>
          <p:cNvPr id="98" name="Text Placeholder 31">
            <a:extLst>
              <a:ext uri="{FF2B5EF4-FFF2-40B4-BE49-F238E27FC236}">
                <a16:creationId xmlns:a16="http://schemas.microsoft.com/office/drawing/2014/main" id="{8F345D56-D3B9-87A8-A205-0F50E1EA3CE1}"/>
              </a:ext>
            </a:extLst>
          </p:cNvPr>
          <p:cNvSpPr txBox="1">
            <a:spLocks/>
          </p:cNvSpPr>
          <p:nvPr/>
        </p:nvSpPr>
        <p:spPr>
          <a:xfrm>
            <a:off x="7011577" y="2328709"/>
            <a:ext cx="2057400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600" spc="150" dirty="0">
                <a:latin typeface="+mj-lt"/>
                <a:ea typeface="+mj-ea"/>
                <a:cs typeface="+mj-cs"/>
              </a:rPr>
              <a:t>UNDERFLOW</a:t>
            </a:r>
            <a:endParaRPr lang="en-US" sz="1000" dirty="0"/>
          </a:p>
        </p:txBody>
      </p:sp>
      <p:sp>
        <p:nvSpPr>
          <p:cNvPr id="99" name="Text Placeholder 31">
            <a:extLst>
              <a:ext uri="{FF2B5EF4-FFF2-40B4-BE49-F238E27FC236}">
                <a16:creationId xmlns:a16="http://schemas.microsoft.com/office/drawing/2014/main" id="{BDA6541E-3FF7-8212-3C92-46398431435C}"/>
              </a:ext>
            </a:extLst>
          </p:cNvPr>
          <p:cNvSpPr txBox="1">
            <a:spLocks/>
          </p:cNvSpPr>
          <p:nvPr/>
        </p:nvSpPr>
        <p:spPr>
          <a:xfrm>
            <a:off x="8938759" y="2315432"/>
            <a:ext cx="2057400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600" spc="150" dirty="0">
                <a:latin typeface="+mj-lt"/>
                <a:ea typeface="+mj-ea"/>
                <a:cs typeface="+mj-cs"/>
              </a:rPr>
              <a:t>INEXACT</a:t>
            </a:r>
            <a:endParaRPr lang="en-US" sz="10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3BFF68C-D255-CA2D-ACD7-355C29B7B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35373" y="3472575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01" name="Text Placeholder 31">
            <a:extLst>
              <a:ext uri="{FF2B5EF4-FFF2-40B4-BE49-F238E27FC236}">
                <a16:creationId xmlns:a16="http://schemas.microsoft.com/office/drawing/2014/main" id="{8F65AF9D-26E1-1DBC-3864-61A842FE5960}"/>
              </a:ext>
            </a:extLst>
          </p:cNvPr>
          <p:cNvSpPr txBox="1">
            <a:spLocks/>
          </p:cNvSpPr>
          <p:nvPr/>
        </p:nvSpPr>
        <p:spPr>
          <a:xfrm>
            <a:off x="850699" y="2317310"/>
            <a:ext cx="2459077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600" spc="150" dirty="0">
                <a:latin typeface="+mj-lt"/>
                <a:ea typeface="+mj-ea"/>
                <a:cs typeface="+mj-cs"/>
              </a:rPr>
              <a:t>INVALID OPERATION</a:t>
            </a:r>
            <a:endParaRPr lang="en-US" sz="1000" dirty="0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62CA1B2-AE88-0F2D-52FD-91389063A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4507" y="2939175"/>
            <a:ext cx="3722" cy="5334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E4B49C13-31FA-8E11-D522-3C47F3256FFA}"/>
              </a:ext>
            </a:extLst>
          </p:cNvPr>
          <p:cNvSpPr txBox="1"/>
          <p:nvPr/>
        </p:nvSpPr>
        <p:spPr>
          <a:xfrm>
            <a:off x="2209800" y="4233024"/>
            <a:ext cx="10377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fflags is a 5-bit RISC-V CSR representing IEEE 754 accrued exception flags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97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12" y="468511"/>
            <a:ext cx="8421688" cy="1325563"/>
          </a:xfrm>
        </p:spPr>
        <p:txBody>
          <a:bodyPr/>
          <a:lstStyle/>
          <a:p>
            <a:r>
              <a:rPr lang="en-US" dirty="0"/>
              <a:t>REDISCOVERY OF BUG V2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19678" y="2974887"/>
            <a:ext cx="3924300" cy="823912"/>
          </a:xfrm>
        </p:spPr>
        <p:txBody>
          <a:bodyPr/>
          <a:lstStyle/>
          <a:p>
            <a:r>
              <a:rPr lang="en-US" dirty="0"/>
              <a:t>CASCADE FINDING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9800" y="4026494"/>
            <a:ext cx="3924300" cy="14638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noProof="1"/>
              <a:t>The paper found V2 as an Archvals bug  (wrong result value).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noProof="1"/>
              <a:t>Some VexRiscv versions returned the wrong value (NaN instead of 1.0) for fmin when one operand was NaN.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961861"/>
            <a:ext cx="3943627" cy="823912"/>
          </a:xfrm>
        </p:spPr>
        <p:txBody>
          <a:bodyPr/>
          <a:lstStyle/>
          <a:p>
            <a:r>
              <a:rPr lang="en-US" dirty="0"/>
              <a:t>     OUR FINDING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0E0ACA0-9139-4C37-920D-BF3C1FF46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06085" y="3652822"/>
            <a:ext cx="3943627" cy="1997867"/>
          </a:xfrm>
        </p:spPr>
        <p:txBody>
          <a:bodyPr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endParaRPr lang="en-US" sz="1500" noProof="1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noProof="1"/>
              <a:t>We discovered that the same bug as an Archflags bug (wrong status flags)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500" noProof="1"/>
              <a:t>V2 has a second, independent symptom - wrong fflags, that persists across all 5 VexRiscv variants, is invisible to the original Cascade oracle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A526A0-89E0-4DC1-53F6-E99F3A8B5C5F}"/>
              </a:ext>
            </a:extLst>
          </p:cNvPr>
          <p:cNvSpPr txBox="1"/>
          <p:nvPr/>
        </p:nvSpPr>
        <p:spPr>
          <a:xfrm>
            <a:off x="2932112" y="1736727"/>
            <a:ext cx="7962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BUG V2: “fmin with one NaN does not always return the other operand”</a:t>
            </a:r>
          </a:p>
          <a:p>
            <a:endParaRPr lang="en-US" dirty="0"/>
          </a:p>
          <a:p>
            <a:r>
              <a:rPr lang="en-US" dirty="0"/>
              <a:t>IDEAL BEHAVIOUR: fmin(NaN, 1.0) returns 1.0 and sets NV (bit-4) of fflags CSR</a:t>
            </a: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F1B8D-0B00-678E-65DC-33259D05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3D76AA-438B-7CCE-4800-B0FBF4E0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9261" y="6728"/>
            <a:ext cx="8421688" cy="1325563"/>
          </a:xfrm>
        </p:spPr>
        <p:txBody>
          <a:bodyPr/>
          <a:lstStyle/>
          <a:p>
            <a:r>
              <a:rPr lang="en-US" dirty="0"/>
              <a:t>REDISCOVERY OF BUG V2 – OUR FINDING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C634302-05D4-F51C-D6F6-87A18E60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61E56D-A480-B0B7-3F77-6B1FCCE1D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3E6A15E-7CE6-4692-73A5-09D9B2B926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A29C4CA-024A-05A2-F530-F6E3B7740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12741" y="1328209"/>
            <a:ext cx="4601497" cy="5360199"/>
          </a:xfrm>
        </p:spPr>
        <p:txBody>
          <a:bodyPr>
            <a:normAutofit/>
          </a:bodyPr>
          <a:lstStyle/>
          <a:p>
            <a:r>
              <a:rPr lang="en-US" sz="1600" b="1" dirty="0"/>
              <a:t>Targeted Test </a:t>
            </a:r>
          </a:p>
          <a:p>
            <a:r>
              <a:rPr lang="en-US" sz="1600" dirty="0"/>
              <a:t>Compiled a minimal 6-instruction RISC-V program: 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inject qNaN (0x7FC00000) via fmv.w.x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execute fmin.s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read fflags via frflags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dump to memory using Cascade's register dump protocol.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Compared Spike vs RTL</a:t>
            </a:r>
            <a:endParaRPr lang="en-US" sz="1600" dirty="0"/>
          </a:p>
          <a:p>
            <a:r>
              <a:rPr lang="en-US" sz="1600" dirty="0"/>
              <a:t>Spike: fflags = 0x10 (NV flag set)</a:t>
            </a:r>
          </a:p>
          <a:p>
            <a:r>
              <a:rPr lang="en-US" sz="1600" dirty="0"/>
              <a:t>VexRiscv RTL: fflags = 0x00 (NV not set)</a:t>
            </a:r>
          </a:p>
          <a:p>
            <a:r>
              <a:rPr lang="en-US" sz="1600" dirty="0"/>
              <a:t>Result value: both return 1.0 — </a:t>
            </a:r>
            <a:r>
              <a:rPr lang="en-US" sz="1600" b="1" dirty="0"/>
              <a:t>Cascade sees no mismatch</a:t>
            </a:r>
            <a:endParaRPr lang="en-US" sz="1600" dirty="0"/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350992-308B-9937-71C9-C5646D864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0" y="1154506"/>
            <a:ext cx="6806381" cy="536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55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en-US" dirty="0"/>
              <a:t>Discovery of a new bug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A6E375-A388-526D-7AE8-65EF25BA5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1A5BE27-468B-A331-6F9D-355AEF7256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/>
              <a:t>CVA6 sets NX (inexact) exception flag for fsqrt results including exact ones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998E66-9A0F-FB82-5745-92BC5794276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IDEAL BEHAVIOUR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844031-578A-C630-F187-74E3103387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0169" y="4036928"/>
            <a:ext cx="5433630" cy="2216929"/>
          </a:xfrm>
        </p:spPr>
        <p:txBody>
          <a:bodyPr>
            <a:normAutofit/>
          </a:bodyPr>
          <a:lstStyle/>
          <a:p>
            <a:r>
              <a:rPr lang="en-US" sz="1600" dirty="0"/>
              <a:t>fsqrt.s is the RISC-V single-precision square root instruction. When it executes, two things happen:</a:t>
            </a:r>
          </a:p>
          <a:p>
            <a:pPr marL="342900" indent="-342900">
              <a:buAutoNum type="arabicParenR"/>
            </a:pPr>
            <a:r>
              <a:rPr lang="en-US" sz="1600" dirty="0"/>
              <a:t>Result : The square root value is written to the destination FP</a:t>
            </a:r>
          </a:p>
          <a:p>
            <a:pPr marL="342900" indent="-342900">
              <a:buAutoNum type="arabicParenR"/>
            </a:pPr>
            <a:r>
              <a:rPr lang="en-US" sz="1600" dirty="0"/>
              <a:t>fflags : The NX (inexact) exception flag should be set only if the result could not be represented exactly</a:t>
            </a:r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 lIns="0"/>
          <a:lstStyle/>
          <a:p>
            <a:r>
              <a:rPr lang="en-US" dirty="0"/>
              <a:t>Discovery of a new bug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59DA59-9587-E7EC-E7D8-F442427247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22658" y="1462088"/>
            <a:ext cx="2743200" cy="4121038"/>
          </a:xfrm>
        </p:spPr>
        <p:txBody>
          <a:bodyPr/>
          <a:lstStyle/>
          <a:p>
            <a:r>
              <a:rPr lang="en-US" dirty="0"/>
              <a:t>How we discovered it?</a:t>
            </a:r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Identified fsqrt.s instruction suppression in Cascade oracle</a:t>
            </a:r>
          </a:p>
          <a:p>
            <a:pPr marL="342900" indent="-342900">
              <a:buAutoNum type="arabicParenR"/>
            </a:pPr>
            <a:r>
              <a:rPr lang="en-US" dirty="0"/>
              <a:t>Built a targeted test to execute fsqrt.s and read fflags</a:t>
            </a:r>
          </a:p>
          <a:p>
            <a:pPr marL="342900" indent="-342900">
              <a:buAutoNum type="arabicParenR"/>
            </a:pPr>
            <a:r>
              <a:rPr lang="en-US" dirty="0"/>
              <a:t>Compared results of Spike and CVA6 RTL to discover it</a:t>
            </a:r>
          </a:p>
          <a:p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12427D-8B7C-A30B-D30B-230C7216E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6" y="1307684"/>
            <a:ext cx="8564170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863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Discovery of a new bug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97536-70D1-46C0-A2A2-51A6BB21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C290A6-D45E-D8C7-A8F9-222B8B6E1D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64462" y="2101902"/>
            <a:ext cx="3635475" cy="3697288"/>
          </a:xfrm>
        </p:spPr>
        <p:txBody>
          <a:bodyPr>
            <a:normAutofit/>
          </a:bodyPr>
          <a:lstStyle/>
          <a:p>
            <a:r>
              <a:rPr lang="en-US" sz="1800" dirty="0"/>
              <a:t>We found a spurious NX flag bug on CVA6's fsqrt for exact inputs 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Related but distinct manifestation from B11/B13, in the same fsqrt exception flag logic that DiveFuzz (CCS’25) identified as buggy.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D18630-4364-5E34-0D54-BB236462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82" y="1288025"/>
            <a:ext cx="7666679" cy="531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223" y="1618456"/>
            <a:ext cx="5111750" cy="1204912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0901" y="3090862"/>
            <a:ext cx="5111750" cy="1525588"/>
          </a:xfr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Identified a structural blind spot in Cascade (USENIX Security ‘24)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Implemented IEEE 754 special value injection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Demonstrated the gap is real and exploitable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904265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{4C608170-DA26-4941-894E-715962E37D88}TF1ed81438-95a7-4ae9-841d-43ea2c64f7fc8ae7ff09_win32-aa52a5bb69e3</Template>
  <TotalTime>646</TotalTime>
  <Words>702</Words>
  <Application>Microsoft Office PowerPoint</Application>
  <PresentationFormat>Widescreen</PresentationFormat>
  <Paragraphs>113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Tenorite</vt:lpstr>
      <vt:lpstr>Wingdings</vt:lpstr>
      <vt:lpstr>Monoline</vt:lpstr>
      <vt:lpstr>Structural Gaps  in Cascade Framework</vt:lpstr>
      <vt:lpstr>What is cascade?</vt:lpstr>
      <vt:lpstr>CASCADE WORKING</vt:lpstr>
      <vt:lpstr>RUNNING CASCADE</vt:lpstr>
      <vt:lpstr>FINDINGS</vt:lpstr>
      <vt:lpstr>ENHANCEMENT - I</vt:lpstr>
      <vt:lpstr>ENHANCEMENT-1 RESULTS</vt:lpstr>
      <vt:lpstr>KEY FINDING  GAP-II</vt:lpstr>
      <vt:lpstr>STRUCTURAL GAP IN CASCADE</vt:lpstr>
      <vt:lpstr>WHAT ARE FFLAGS?</vt:lpstr>
      <vt:lpstr>REDISCOVERY OF BUG V2 </vt:lpstr>
      <vt:lpstr>REDISCOVERY OF BUG V2 – OUR FINDING </vt:lpstr>
      <vt:lpstr>Discovery of a new bug</vt:lpstr>
      <vt:lpstr>Discovery of a new bug</vt:lpstr>
      <vt:lpstr>Discovery of a new bug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Hitarth Shajwani</dc:creator>
  <cp:lastModifiedBy>Hitarth Shajwani</cp:lastModifiedBy>
  <cp:revision>5</cp:revision>
  <dcterms:created xsi:type="dcterms:W3CDTF">2026-05-03T16:46:24Z</dcterms:created>
  <dcterms:modified xsi:type="dcterms:W3CDTF">2026-05-04T03:33:05Z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